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e2b6e8ec54a8c" /><Relationship Type="http://schemas.openxmlformats.org/officeDocument/2006/relationships/extended-properties" Target="/docProps/app.xml" Id="R809e5744ce2d4ae4" /><Relationship Type="http://schemas.openxmlformats.org/officeDocument/2006/relationships/officeDocument" Target="/ppt/presentation.xml" Id="R02aae2596be54e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c7fc2132fe4f71"/>
  </p:sldMasterIdLst>
  <p:notesMasterIdLst>
    <p:notesMasterId xmlns:r="http://schemas.openxmlformats.org/officeDocument/2006/relationships" r:id="Rb1d409be59b44ebb"/>
  </p:notesMasterIdLst>
  <p:sldIdLst>
    <p:sldId xmlns:r="http://schemas.openxmlformats.org/officeDocument/2006/relationships" id="256" r:id="Rdf5a4b14492644e7"/>
    <p:sldId xmlns:r="http://schemas.openxmlformats.org/officeDocument/2006/relationships" id="257" r:id="R5d9efd53a1d441a9"/>
    <p:sldId xmlns:r="http://schemas.openxmlformats.org/officeDocument/2006/relationships" id="258" r:id="R79f1b10eb99b48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580e3098914309" /><Relationship Type="http://schemas.openxmlformats.org/officeDocument/2006/relationships/slideMaster" Target="/ppt/slideMasters/slideMaster1.xml" Id="R06c7fc2132fe4f71" /><Relationship Type="http://schemas.openxmlformats.org/officeDocument/2006/relationships/notesMaster" Target="/ppt/notesMasters/notesMaster1.xml" Id="Rb1d409be59b44ebb" /><Relationship Type="http://schemas.openxmlformats.org/officeDocument/2006/relationships/presProps" Target="/ppt/presProps.xml" Id="R5772242254894dc8" /><Relationship Type="http://schemas.openxmlformats.org/officeDocument/2006/relationships/tableStyles" Target="/ppt/tableStyles.xml" Id="R99650c29b85d42c3" /><Relationship Type="http://schemas.openxmlformats.org/officeDocument/2006/relationships/slide" Target="/ppt/slides/slide1.xml" Id="Rdf5a4b14492644e7" /><Relationship Type="http://schemas.openxmlformats.org/officeDocument/2006/relationships/slide" Target="/ppt/slides/slide2.xml" Id="R5d9efd53a1d441a9" /><Relationship Type="http://schemas.openxmlformats.org/officeDocument/2006/relationships/slide" Target="/ppt/slides/slide3.xml" Id="R79f1b10eb99b48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1ba40cc6846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Jana Address">
  <a:themeElements>
    <a:clrScheme name="Jana Addres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Jana Add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0418f039144c2" /><Relationship Type="http://schemas.openxmlformats.org/officeDocument/2006/relationships/notesMaster" Target="/ppt/notesMasters/notesMaster1.xml" Id="Rb5cdf26eee5548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f675c96ce4aa1" /><Relationship Type="http://schemas.openxmlformats.org/officeDocument/2006/relationships/notesMaster" Target="/ppt/notesMasters/notesMaster1.xml" Id="R7030d76f296d45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b2154e2b464c55" /><Relationship Type="http://schemas.openxmlformats.org/officeDocument/2006/relationships/notesMaster" Target="/ppt/notesMasters/notesMaster1.xml" Id="R3498dc97cfe0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0:00–0:08. Jana Address превращает неструктурированный адрес в 14 полей и помогает оператору быстро проверить спорные записи. Всё работает локально, без внешнего геокодера.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0:08–0:42. Мы собрали локальный сервис. FastAPI принимает JSON. Парсер разбирает строку. RapidFuzz исправляет опечатки в названиях улиц, а SQLite-справочник на основе КАТО и OpenStreetMap определяет район по улице и дому. На синтетическом наборе точность по полям составила 95,1 процента. Тысяча адресов обрабатывается за 2,54 секунды.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0:42–1:00. Сейчас покажем адрес «Астана манглик ел 47 квартира 57». Сервис исправит название улицы по локальному справочнику и определит район по номеру дома. Затем покажем проверку и экспорт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15f50605c4a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9507608f74f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5d824f7c54f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ca676ba6c41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e40bfe72442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215c16fdb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A512D0-238C-456A-9F25-3A5DF8378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A17CFA-7F26-4CEF-BA02-4DB8CE4816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73D223-3BDD-4438-B3DE-A773860EA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211293-2E0F-441D-8298-E9416BDCA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7599B9-FA74-4743-BE24-19CD840AC2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878E6D-B2FC-4AAB-AA92-812BF784E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C36D46-DEFE-4480-AE5C-2E498A2EBF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753AB9-C763-492B-BC84-2929AB043D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3F945E-FB44-4732-8713-C5ACA41DF7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F61AED-E997-479A-B1EF-48CAE00F72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a8c3d22104e54" /><Relationship Type="http://schemas.openxmlformats.org/officeDocument/2006/relationships/slideLayout" Target="/ppt/slideLayouts/slideLayout1.xml" Id="R4f44d32548b048c1" /><Relationship Type="http://schemas.openxmlformats.org/officeDocument/2006/relationships/slideLayout" Target="/ppt/slideLayouts/slideLayout2.xml" Id="R35be48127e444c07" /><Relationship Type="http://schemas.openxmlformats.org/officeDocument/2006/relationships/slideLayout" Target="/ppt/slideLayouts/slideLayout3.xml" Id="R983bf32a61fb463f" /><Relationship Type="http://schemas.openxmlformats.org/officeDocument/2006/relationships/slideLayout" Target="/ppt/slideLayouts/slideLayout4.xml" Id="R6c62c636c9a74a9d" /><Relationship Type="http://schemas.openxmlformats.org/officeDocument/2006/relationships/slideLayout" Target="/ppt/slideLayouts/slideLayout5.xml" Id="Re55d6835f6d443b5" /><Relationship Type="http://schemas.openxmlformats.org/officeDocument/2006/relationships/slideLayout" Target="/ppt/slideLayouts/slideLayout6.xml" Id="R862f0f89fff0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44d32548b048c1"/>
    <p:sldLayoutId xmlns:r="http://schemas.openxmlformats.org/officeDocument/2006/relationships" id="2147483650" r:id="R35be48127e444c07"/>
    <p:sldLayoutId xmlns:r="http://schemas.openxmlformats.org/officeDocument/2006/relationships" id="2147483651" r:id="R983bf32a61fb463f"/>
    <p:sldLayoutId xmlns:r="http://schemas.openxmlformats.org/officeDocument/2006/relationships" id="2147483652" r:id="R6c62c636c9a74a9d"/>
    <p:sldLayoutId xmlns:r="http://schemas.openxmlformats.org/officeDocument/2006/relationships" id="2147483653" r:id="Re55d6835f6d443b5"/>
    <p:sldLayoutId xmlns:r="http://schemas.openxmlformats.org/officeDocument/2006/relationships" id="2147483654" r:id="R862f0f89fff0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Jana Address">
  <a:themeElements>
    <a:clrScheme name="Jana Addres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Jana Add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9b4daa1894604" /><Relationship Type="http://schemas.openxmlformats.org/officeDocument/2006/relationships/image" Target="/ppt/media/image.png" Id="Re4a24078cf314513" /><Relationship Type="http://schemas.openxmlformats.org/officeDocument/2006/relationships/notesSlide" Target="/ppt/notesSlides/notesSlide1.xml" Id="R823e341e39fd44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3aee9086c4249" /><Relationship Type="http://schemas.openxmlformats.org/officeDocument/2006/relationships/image" Target="/ppt/media/image2.png" Id="Rc78ca501409442c1" /><Relationship Type="http://schemas.openxmlformats.org/officeDocument/2006/relationships/notesSlide" Target="/ppt/notesSlides/notesSlide2.xml" Id="R4b99dd8aba4b48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f4b06a4544bbb" /><Relationship Type="http://schemas.openxmlformats.org/officeDocument/2006/relationships/image" Target="/ppt/media/image3.png" Id="R1ca49d0ec6ba45ad" /><Relationship Type="http://schemas.openxmlformats.org/officeDocument/2006/relationships/image" Target="/ppt/media/image4.png" Id="R68645a5bdf2b4417" /><Relationship Type="http://schemas.openxmlformats.org/officeDocument/2006/relationships/notesSlide" Target="/ppt/notesSlides/notesSlide3.xml" Id="R4875b7bed2df41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jana-green-field">
            <a:extLst xmlns:a="http://schemas.openxmlformats.org/drawingml/2006/main">
              <a:ext uri="{FF2B5EF4-FFF2-40B4-BE49-F238E27FC236}">
                <a16:creationId xmlns:a16="http://schemas.microsoft.com/office/drawing/2014/main" id="{538A6A51-D86A-4C15-AE5F-023C5B0D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BEB45-2673-4553-BBF6-E7BBC0F04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24078cf314513"/>
          <a:srcRect xmlns:a="http://schemas.openxmlformats.org/drawingml/2006/main" l="44000" t="0" r="0" b="0"/>
          <a:stretch xmlns:a="http://schemas.openxmlformats.org/drawingml/2006/main"/>
        </p:blipFill>
        <p:spPr>
          <a:xfrm xmlns:a="http://schemas.openxmlformats.org/drawingml/2006/main">
            <a:off x="685800" y="438150"/>
            <a:ext cx="280035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ase-label">
            <a:extLst xmlns:a="http://schemas.openxmlformats.org/drawingml/2006/main">
              <a:ext uri="{FF2B5EF4-FFF2-40B4-BE49-F238E27FC236}">
                <a16:creationId xmlns:a16="http://schemas.microsoft.com/office/drawing/2014/main" id="{D9FEAD7B-CFBF-4C59-A1EC-2928BE81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A957"/>
                </a:solidFill>
                <a:latin typeface="Arial"/>
                <a:ea typeface="Arial"/>
                <a:cs typeface="Arial"/>
              </a:rPr>
              <a:t>КЕЙС JANA POST</a:t>
            </a:r>
          </a:p>
        </p:txBody>
      </p:sp>
      <p:sp>
        <p:nvSpPr>
          <p:cNvPr id="4" name="case-title">
            <a:extLst xmlns:a="http://schemas.openxmlformats.org/drawingml/2006/main">
              <a:ext uri="{FF2B5EF4-FFF2-40B4-BE49-F238E27FC236}">
                <a16:creationId xmlns:a16="http://schemas.microsoft.com/office/drawing/2014/main" id="{2A29F9AD-4649-4660-B71B-531FD1B4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676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83000"/>
              </a:lnSpc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JANA</a:t>
            </a:r>
          </a:p>
          <a:p xmlns:a="http://schemas.openxmlformats.org/drawingml/2006/main">
            <a:pPr>
              <a:lnSpc>
                <a:spcPct val="83000"/>
              </a:lnSpc>
              <a:buNone/>
              <a:defRPr sz="57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ADDRESS</a:t>
            </a:r>
          </a:p>
        </p:txBody>
      </p:sp>
      <p:sp>
        <p:nvSpPr>
          <p:cNvPr id="5" name="case-subtitle">
            <a:extLst xmlns:a="http://schemas.openxmlformats.org/drawingml/2006/main">
              <a:ext uri="{FF2B5EF4-FFF2-40B4-BE49-F238E27FC236}">
                <a16:creationId xmlns:a16="http://schemas.microsoft.com/office/drawing/2014/main" id="{8A2924F8-5BD7-4D23-8565-E6CD9D33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>
                <a:solidFill>
                  <a:srgbClr val="303532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03532"/>
                </a:solidFill>
                <a:latin typeface="Arial"/>
                <a:ea typeface="Arial"/>
                <a:cs typeface="Arial"/>
              </a:rPr>
              <a:t>Локальный парсер адресов Казахстана</a:t>
            </a:r>
          </a:p>
        </p:txBody>
      </p:sp>
      <p:sp>
        <p:nvSpPr>
          <p:cNvPr id="6" name="team-number">
            <a:extLst xmlns:a="http://schemas.openxmlformats.org/drawingml/2006/main">
              <a:ext uri="{FF2B5EF4-FFF2-40B4-BE49-F238E27FC236}">
                <a16:creationId xmlns:a16="http://schemas.microsoft.com/office/drawing/2014/main" id="{EE0AFB77-668F-4ACE-B753-200CC943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КОМАНДА №73</a:t>
            </a:r>
          </a:p>
        </p:txBody>
      </p:sp>
      <p:sp>
        <p:nvSpPr>
          <p:cNvPr id="7" name="right-statement">
            <a:extLst xmlns:a="http://schemas.openxmlformats.org/drawingml/2006/main">
              <a:ext uri="{FF2B5EF4-FFF2-40B4-BE49-F238E27FC236}">
                <a16:creationId xmlns:a16="http://schemas.microsoft.com/office/drawing/2014/main" id="{4864F611-277E-4105-8EE9-ED98716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914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АДРЕС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СТАНОВИТСЯ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ДАННЫМИ</a:t>
            </a:r>
          </a:p>
        </p:txBody>
      </p:sp>
      <p:sp>
        <p:nvSpPr>
          <p:cNvPr id="8" name="date-city">
            <a:extLst xmlns:a="http://schemas.openxmlformats.org/drawingml/2006/main">
              <a:ext uri="{FF2B5EF4-FFF2-40B4-BE49-F238E27FC236}">
                <a16:creationId xmlns:a16="http://schemas.microsoft.com/office/drawing/2014/main" id="{8DE888CA-4C29-40F8-8BE6-CDF9D984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19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КАРАГАНДА, 2026</a:t>
            </a:r>
          </a:p>
        </p:txBody>
      </p:sp>
    </p:spTree>
    <p:extLst>
      <p:ext uri="{BB962C8B-B14F-4D97-AF65-F5344CB8AC3E}">
        <p14:creationId xmlns:p14="http://schemas.microsoft.com/office/powerpoint/2010/main" val="510121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band">
            <a:extLst xmlns:a="http://schemas.openxmlformats.org/drawingml/2006/main">
              <a:ext uri="{FF2B5EF4-FFF2-40B4-BE49-F238E27FC236}">
                <a16:creationId xmlns:a16="http://schemas.microsoft.com/office/drawing/2014/main" id="{1D774D7A-9823-4770-A849-88E238C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0634E-9847-44E0-B865-B9B606BF9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ca501409442c1"/>
          <a:srcRect xmlns:a="http://schemas.openxmlformats.org/drawingml/2006/main" l="44000" t="0" r="0" b="0"/>
          <a:stretch xmlns:a="http://schemas.openxmlformats.org/drawingml/2006/main"/>
        </p:blipFill>
        <p:spPr>
          <a:xfrm xmlns:a="http://schemas.openxmlformats.org/drawingml/2006/main">
            <a:off x="9620250" y="400050"/>
            <a:ext cx="2000250" cy="628650"/>
          </a:xfrm>
          <a:prstGeom xmlns:a="http://schemas.openxmlformats.org/drawingml/2006/main" prst="rect">
            <a:avLst/>
          </a:prstGeom>
        </p:spPr>
      </p:pic>
      <p:sp>
        <p:nvSpPr>
          <p:cNvPr id="3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47AB7605-3D3B-4AD1-82F4-719F580F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Краткое описание проделанной работы</a:t>
            </a:r>
          </a:p>
        </p:txBody>
      </p:sp>
      <p:sp>
        <p:nvSpPr>
          <p:cNvPr id="4" name="what-built-heading">
            <a:extLst xmlns:a="http://schemas.openxmlformats.org/drawingml/2006/main">
              <a:ext uri="{FF2B5EF4-FFF2-40B4-BE49-F238E27FC236}">
                <a16:creationId xmlns:a16="http://schemas.microsoft.com/office/drawing/2014/main" id="{641F52EB-568A-47FC-80C8-E2DB7D0F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957"/>
                </a:solidFill>
                <a:latin typeface="Arial"/>
                <a:ea typeface="Arial"/>
                <a:cs typeface="Arial"/>
              </a:rPr>
              <a:t>ЧТО СДЕЛАЛИ</a:t>
            </a:r>
          </a:p>
        </p:txBody>
      </p:sp>
      <p:sp>
        <p:nvSpPr>
          <p:cNvPr id="5" name="what-built">
            <a:extLst xmlns:a="http://schemas.openxmlformats.org/drawingml/2006/main">
              <a:ext uri="{FF2B5EF4-FFF2-40B4-BE49-F238E27FC236}">
                <a16:creationId xmlns:a16="http://schemas.microsoft.com/office/drawing/2014/main" id="{D554EED8-D1F7-4C20-9470-A1D73F5C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91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824"/>
                </a:solidFill>
                <a:latin typeface="Arial"/>
                <a:ea typeface="Arial"/>
                <a:cs typeface="Arial"/>
              </a:rPr>
              <a:t>Jana Address принимает адрес в свободной форме и возвращает 14 полей. RapidFuzz исправляет опечатки в названии улицы, а SQLite определяет район по улице и дому.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824"/>
                </a:solidFill>
                <a:latin typeface="Arial"/>
                <a:ea typeface="Arial"/>
                <a:cs typeface="Arial"/>
              </a:rPr>
              <a:t>Интерфейс показывает источник каждого поля и сохраняет правки оператора. API, интерфейс и справочник работают локально.</a:t>
            </a:r>
          </a:p>
        </p:txBody>
      </p:sp>
      <p:sp>
        <p:nvSpPr>
          <p:cNvPr id="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5A93A073-24C8-4616-960F-D5C7EE8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EB9"/>
            </a:solidFill>
            <a:prstDash val="solid"/>
          </a:ln>
        </p:spPr>
      </p:sp>
      <p:sp>
        <p:nvSpPr>
          <p:cNvPr id="7" name="resources-heading">
            <a:extLst xmlns:a="http://schemas.openxmlformats.org/drawingml/2006/main">
              <a:ext uri="{FF2B5EF4-FFF2-40B4-BE49-F238E27FC236}">
                <a16:creationId xmlns:a16="http://schemas.microsoft.com/office/drawing/2014/main" id="{856C30A5-A129-4F23-8840-2E38FF21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A9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A957"/>
                </a:solidFill>
                <a:latin typeface="Arial"/>
                <a:ea typeface="Arial"/>
                <a:cs typeface="Arial"/>
              </a:rPr>
              <a:t>КАКИЕ РЕСУРСЫ БЫЛИ ИСПОЛЬЗОВАНЫ?</a:t>
            </a:r>
          </a:p>
        </p:txBody>
      </p:sp>
      <p:sp>
        <p:nvSpPr>
          <p:cNvPr id="8" name="resources-list">
            <a:extLst xmlns:a="http://schemas.openxmlformats.org/drawingml/2006/main">
              <a:ext uri="{FF2B5EF4-FFF2-40B4-BE49-F238E27FC236}">
                <a16:creationId xmlns:a16="http://schemas.microsoft.com/office/drawing/2014/main" id="{C070D965-CA47-4792-86A9-4FA0A46C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953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2824"/>
                </a:solidFill>
                <a:latin typeface="Arial"/>
                <a:ea typeface="Arial"/>
                <a:cs typeface="Arial"/>
              </a:rPr>
              <a:t>Python 3.12, FastAPI, Uvicorn, SQLite, RapidFuzz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2824"/>
                </a:solidFill>
                <a:latin typeface="Arial"/>
                <a:ea typeface="Arial"/>
                <a:cs typeface="Arial"/>
              </a:rPr>
              <a:t>HTML, CSS, JavaScript, Docker Compose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2824"/>
                </a:solidFill>
                <a:latin typeface="Arial"/>
                <a:ea typeface="Arial"/>
                <a:cs typeface="Arial"/>
              </a:rPr>
              <a:t>КАТО БНС РК и OpenStreetMap / Geofabrik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2824"/>
                </a:solidFill>
                <a:latin typeface="Arial"/>
                <a:ea typeface="Arial"/>
                <a:cs typeface="Arial"/>
              </a:rPr>
              <a:t>pytest и Node test runner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2428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2824"/>
                </a:solidFill>
                <a:latin typeface="Arial"/>
                <a:ea typeface="Arial"/>
                <a:cs typeface="Arial"/>
              </a:rPr>
              <a:t>Git для контроля версий</a:t>
            </a:r>
          </a:p>
        </p:txBody>
      </p:sp>
      <p:sp>
        <p:nvSpPr>
          <p:cNvPr id="9" name="results-band">
            <a:extLst xmlns:a="http://schemas.openxmlformats.org/drawingml/2006/main">
              <a:ext uri="{FF2B5EF4-FFF2-40B4-BE49-F238E27FC236}">
                <a16:creationId xmlns:a16="http://schemas.microsoft.com/office/drawing/2014/main" id="{CB5AD519-AA0D-4058-86F1-55E2935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628DE703-A789-45B9-BE0D-FA817DDE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FF3D"/>
                </a:solidFill>
                <a:latin typeface="Arial"/>
                <a:ea typeface="Arial"/>
                <a:cs typeface="Arial"/>
              </a:rPr>
              <a:t>КАКИЕ РЕЗУЛЬТАТЫ ПОЛУЧИЛИ</a:t>
            </a:r>
          </a:p>
        </p:txBody>
      </p:sp>
      <p:sp>
        <p:nvSpPr>
          <p:cNvPr id="11" name="metric-64">
            <a:extLst xmlns:a="http://schemas.openxmlformats.org/drawingml/2006/main">
              <a:ext uri="{FF2B5EF4-FFF2-40B4-BE49-F238E27FC236}">
                <a16:creationId xmlns:a16="http://schemas.microsoft.com/office/drawing/2014/main" id="{10749338-C675-4656-9CD6-A1862526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95,1%</a:t>
            </a:r>
          </a:p>
        </p:txBody>
      </p:sp>
      <p:sp>
        <p:nvSpPr>
          <p:cNvPr id="12" name="metric-label-64">
            <a:extLst xmlns:a="http://schemas.openxmlformats.org/drawingml/2006/main">
              <a:ext uri="{FF2B5EF4-FFF2-40B4-BE49-F238E27FC236}">
                <a16:creationId xmlns:a16="http://schemas.microsoft.com/office/drawing/2014/main" id="{A19E0852-5132-47A3-8AB2-51DBB784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по полям на 1 000</a:t>
            </a:r>
          </a:p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синтетических адресах</a:t>
            </a:r>
          </a:p>
        </p:txBody>
      </p:sp>
      <p:sp>
        <p:nvSpPr>
          <p:cNvPr id="13" name="metric-458">
            <a:extLst xmlns:a="http://schemas.openxmlformats.org/drawingml/2006/main">
              <a:ext uri="{FF2B5EF4-FFF2-40B4-BE49-F238E27FC236}">
                <a16:creationId xmlns:a16="http://schemas.microsoft.com/office/drawing/2014/main" id="{EF128280-B0F6-484D-9CD7-EE398F38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2,54 с</a:t>
            </a:r>
          </a:p>
        </p:txBody>
      </p:sp>
      <p:sp>
        <p:nvSpPr>
          <p:cNvPr id="14" name="metric-label-458">
            <a:extLst xmlns:a="http://schemas.openxmlformats.org/drawingml/2006/main">
              <a:ext uri="{FF2B5EF4-FFF2-40B4-BE49-F238E27FC236}">
                <a16:creationId xmlns:a16="http://schemas.microsoft.com/office/drawing/2014/main" id="{6914E2E9-C7DF-437B-8265-550E125C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95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медиана обработки</a:t>
            </a:r>
          </a:p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1 000 адресов</a:t>
            </a:r>
          </a:p>
        </p:txBody>
      </p:sp>
      <p:sp>
        <p:nvSpPr>
          <p:cNvPr id="15" name="metric-852">
            <a:extLst xmlns:a="http://schemas.openxmlformats.org/drawingml/2006/main">
              <a:ext uri="{FF2B5EF4-FFF2-40B4-BE49-F238E27FC236}">
                <a16:creationId xmlns:a16="http://schemas.microsoft.com/office/drawing/2014/main" id="{F816D977-FB98-44FF-BF6A-6CD12C7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734 450</a:t>
            </a:r>
          </a:p>
        </p:txBody>
      </p:sp>
      <p:sp>
        <p:nvSpPr>
          <p:cNvPr id="16" name="metric-label-852">
            <a:extLst xmlns:a="http://schemas.openxmlformats.org/drawingml/2006/main">
              <a:ext uri="{FF2B5EF4-FFF2-40B4-BE49-F238E27FC236}">
                <a16:creationId xmlns:a16="http://schemas.microsoft.com/office/drawing/2014/main" id="{D027552B-6D1E-45BF-9A79-31A1E5DE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95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адресных объектов</a:t>
            </a:r>
          </a:p>
          <a:p xmlns:a="http://schemas.openxmlformats.org/drawingml/2006/main">
            <a:pPr>
              <a:buNone/>
              <a:defRPr sz="1350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AC2BC"/>
                </a:solidFill>
                <a:latin typeface="Arial"/>
                <a:ea typeface="Arial"/>
                <a:cs typeface="Arial"/>
              </a:rPr>
              <a:t>в локальном справочнике</a:t>
            </a:r>
          </a:p>
        </p:txBody>
      </p:sp>
      <p:sp>
        <p:nvSpPr>
          <p:cNvPr id="17" name="results-footnote">
            <a:extLst xmlns:a="http://schemas.openxmlformats.org/drawingml/2006/main">
              <a:ext uri="{FF2B5EF4-FFF2-40B4-BE49-F238E27FC236}">
                <a16:creationId xmlns:a16="http://schemas.microsoft.com/office/drawing/2014/main" id="{5D302637-5694-441E-BB28-5E6D7EA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>
                <a:solidFill>
                  <a:srgbClr val="7F8982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F8982"/>
                </a:solidFill>
                <a:latin typeface="Arial"/>
                <a:ea typeface="Arial"/>
                <a:cs typeface="Arial"/>
              </a:rPr>
              <a:t>Измерения проекта, 18.10.2026. Скрытая выборка жюри может дать другой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746219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mo-accent">
            <a:extLst xmlns:a="http://schemas.openxmlformats.org/drawingml/2006/main">
              <a:ext uri="{FF2B5EF4-FFF2-40B4-BE49-F238E27FC236}">
                <a16:creationId xmlns:a16="http://schemas.microsoft.com/office/drawing/2014/main" id="{171DF820-B15D-41DF-9D06-CB4834B1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87FAF5B9-C15D-476D-A4E1-494B69CD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прототипа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A99F1-70C4-4491-A209-10A907BE37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9d0ec6ba45ad"/>
          <a:srcRect xmlns:a="http://schemas.openxmlformats.org/drawingml/2006/main" l="0" t="1000" r="0" b="3000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3276600" cy="5029200"/>
          </a:xfrm>
          <a:prstGeom xmlns:a="http://schemas.openxmlformats.org/drawingml/2006/main" prst="roundRect">
            <a:avLst>
              <a:gd name="adj" fmla="val 5814"/>
            </a:avLst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12B7D-B01C-4542-8021-26F44D561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45a5bdf2b4417"/>
          <a:srcRect xmlns:a="http://schemas.openxmlformats.org/drawingml/2006/main" l="0" t="1000" r="0" b="3000"/>
          <a:stretch xmlns:a="http://schemas.openxmlformats.org/drawingml/2006/main"/>
        </p:blipFill>
        <p:spPr>
          <a:xfrm xmlns:a="http://schemas.openxmlformats.org/drawingml/2006/main">
            <a:off x="4152900" y="1257300"/>
            <a:ext cx="3276600" cy="5029200"/>
          </a:xfrm>
          <a:prstGeom xmlns:a="http://schemas.openxmlformats.org/drawingml/2006/main" prst="roundRect">
            <a:avLst>
              <a:gd name="adj" fmla="val 5814"/>
            </a:avLst>
          </a:prstGeom>
        </p:spPr>
      </p:pic>
      <p:sp>
        <p:nvSpPr>
          <p:cNvPr id="5" name="live-label">
            <a:extLst xmlns:a="http://schemas.openxmlformats.org/drawingml/2006/main">
              <a:ext uri="{FF2B5EF4-FFF2-40B4-BE49-F238E27FC236}">
                <a16:creationId xmlns:a16="http://schemas.microsoft.com/office/drawing/2014/main" id="{971D106B-AA9B-4DDD-B4FF-0AE7525E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C8FF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FF3D"/>
                </a:solidFill>
                <a:latin typeface="Arial"/>
                <a:ea typeface="Arial"/>
                <a:cs typeface="Arial"/>
              </a:rPr>
              <a:t>LIVE / ЛОКАЛЬНО / OFFLINE</a:t>
            </a:r>
          </a:p>
        </p:txBody>
      </p:sp>
      <p:sp>
        <p:nvSpPr>
          <p:cNvPr id="6" name="demo-plan">
            <a:extLst xmlns:a="http://schemas.openxmlformats.org/drawingml/2006/main">
              <a:ext uri="{FF2B5EF4-FFF2-40B4-BE49-F238E27FC236}">
                <a16:creationId xmlns:a16="http://schemas.microsoft.com/office/drawing/2014/main" id="{509952EB-6160-499E-8B02-1E24B5AD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34671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00:00   Демо-пакет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00:25   Открыть запись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00:50   Улица, дом, район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01:15   «На проверку»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01:35   Сохранить правку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01:50   Экспорт JSON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02:00   Стоп</a:t>
            </a:r>
          </a:p>
        </p:txBody>
      </p:sp>
      <p:sp>
        <p:nvSpPr>
          <p:cNvPr id="7" name="demo-proof">
            <a:extLst xmlns:a="http://schemas.openxmlformats.org/drawingml/2006/main">
              <a:ext uri="{FF2B5EF4-FFF2-40B4-BE49-F238E27FC236}">
                <a16:creationId xmlns:a16="http://schemas.microsoft.com/office/drawing/2014/main" id="{5C8C5171-3F9A-4F22-8DCF-10B6413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0"/>
            <a:ext cx="335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75">
                <a:solidFill>
                  <a:srgbClr val="BAC2B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AC2BC"/>
                </a:solidFill>
                <a:latin typeface="Arial"/>
                <a:ea typeface="Arial"/>
                <a:cs typeface="Arial"/>
              </a:rPr>
              <a:t>Пример: «манглик ел 47» распознаётся как «Мангилик Ел, 47, район Есиль».</a:t>
            </a:r>
          </a:p>
        </p:txBody>
      </p:sp>
    </p:spTree>
    <p:extLst>
      <p:ext uri="{BB962C8B-B14F-4D97-AF65-F5344CB8AC3E}">
        <p14:creationId xmlns:p14="http://schemas.microsoft.com/office/powerpoint/2010/main" val="863281922"/>
      </p:ext>
    </p:extLst>
  </p:cSld>
</p:sld>
</file>

<file path=ppt/theme/theme1.xml><?xml version="1.0" encoding="utf-8"?>
<a:theme xmlns:a="http://schemas.openxmlformats.org/drawingml/2006/main" name="Jana Address">
  <a:themeElements>
    <a:clrScheme name="Jana Addres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Jana Addre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2026-10-18T08:21:06.6590000Z</dcterms:created>
  <dcterms:modified xsi:type="dcterms:W3CDTF">2026-10-18T08:21:06.6590000Z</dcterms:modified>
</coreProperties>
</file>